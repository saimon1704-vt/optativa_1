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5"/>
    <a:srgbClr val="F4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50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arduino.cc/sketches/d1249fda-9edf-4e2c-8b70-77fdb3342c8f?view-mode=pre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J0VNWo1T6yE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PIR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Detección de Movimiento con Arduino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108960"/>
            <a:ext cx="73152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3291840"/>
            <a:ext cx="6400800" cy="146304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371600" y="3291840"/>
            <a:ext cx="6400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Simón Vargas Toro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Guevara Montolla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Marín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2004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846320" cy="374904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Guardian PIR?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Guardian PIR es un sistema embebido basado en Arduino Uno que detecta la presencia de personas u objetos en movimiento mediante un sensor PIR (Infrarrojo Pasivo).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detecta movimiento, el sistema responde de forma inmediata activando un buzzer como alarma sonora y encendiendo un LED rojo como señal visual de alerta.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diseño compacto, bajo costo y facilidad de implementación lo convierten en una solución ideal para prototipos de seguridad en hogares, laboratorios o espacios educativos.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2" y="1051561"/>
            <a:ext cx="3108960" cy="3474723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577842" y="1051561"/>
            <a:ext cx="310896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2" y="1051561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IMAGEN DEL PROYECTO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77842" y="1417321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Insertar imagen aquí ]</a:t>
            </a:r>
            <a:endParaRPr lang="en-US" sz="12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512351F-2404-45F5-9341-1711964E9F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640"/>
          <a:stretch/>
        </p:blipFill>
        <p:spPr>
          <a:xfrm rot="16200000">
            <a:off x="5577840" y="1417322"/>
            <a:ext cx="3108963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5">
            <a:extLst>
              <a:ext uri="{FF2B5EF4-FFF2-40B4-BE49-F238E27FC236}">
                <a16:creationId xmlns:a16="http://schemas.microsoft.com/office/drawing/2014/main" id="{781D854A-C172-414B-9D6F-60C3C069B22F}"/>
              </a:ext>
            </a:extLst>
          </p:cNvPr>
          <p:cNvSpPr/>
          <p:nvPr/>
        </p:nvSpPr>
        <p:spPr>
          <a:xfrm>
            <a:off x="59268" y="1168400"/>
            <a:ext cx="3197014" cy="353060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" name="Shape 0"/>
          <p:cNvSpPr/>
          <p:nvPr/>
        </p:nvSpPr>
        <p:spPr>
          <a:xfrm>
            <a:off x="512064" y="2286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28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Materiales y Conexiones</a:t>
            </a:r>
            <a:endParaRPr lang="en-US" sz="3000" dirty="0"/>
          </a:p>
        </p:txBody>
      </p:sp>
      <p:pic>
        <p:nvPicPr>
          <p:cNvPr id="7" name="Image 0" descr="/home/claude/materials.png"/>
          <p:cNvPicPr>
            <a:picLocks noChangeAspect="1"/>
          </p:cNvPicPr>
          <p:nvPr/>
        </p:nvPicPr>
        <p:blipFill rotWithShape="1">
          <a:blip r:embed="rId3"/>
          <a:srcRect l="7673" t="1608" r="21840" b="4825"/>
          <a:stretch/>
        </p:blipFill>
        <p:spPr>
          <a:xfrm>
            <a:off x="161677" y="1306558"/>
            <a:ext cx="3040639" cy="325428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43317" y="494725"/>
            <a:ext cx="5672917" cy="451104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56281" y="799525"/>
            <a:ext cx="57160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Pinout (Tinkercad)</a:t>
            </a:r>
            <a:endParaRPr lang="en-US" sz="1300" dirty="0"/>
          </a:p>
        </p:txBody>
      </p:sp>
      <p:grpSp>
        <p:nvGrpSpPr>
          <p:cNvPr id="21" name="Grupo 20">
            <a:extLst>
              <a:ext uri="{FF2B5EF4-FFF2-40B4-BE49-F238E27FC236}">
                <a16:creationId xmlns:a16="http://schemas.microsoft.com/office/drawing/2014/main" id="{620A60AE-619F-475D-B93D-793111E34AE4}"/>
              </a:ext>
            </a:extLst>
          </p:cNvPr>
          <p:cNvGrpSpPr/>
          <p:nvPr/>
        </p:nvGrpSpPr>
        <p:grpSpPr>
          <a:xfrm>
            <a:off x="3454400" y="605215"/>
            <a:ext cx="5420834" cy="4320540"/>
            <a:chOff x="-5020496" y="-1338386"/>
            <a:chExt cx="4513325" cy="3967286"/>
          </a:xfrm>
        </p:grpSpPr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F93BBC5A-E156-480C-B8CA-D88D077E64EE}"/>
                </a:ext>
              </a:extLst>
            </p:cNvPr>
            <p:cNvSpPr/>
            <p:nvPr/>
          </p:nvSpPr>
          <p:spPr>
            <a:xfrm>
              <a:off x="-5020496" y="525780"/>
              <a:ext cx="4513324" cy="2103120"/>
            </a:xfrm>
            <a:prstGeom prst="rect">
              <a:avLst/>
            </a:prstGeom>
            <a:solidFill>
              <a:srgbClr val="F4F5F6"/>
            </a:solidFill>
            <a:ln>
              <a:solidFill>
                <a:srgbClr val="F3F3F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B86AFECC-2645-4732-AE94-035E34D940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8303"/>
            <a:stretch/>
          </p:blipFill>
          <p:spPr>
            <a:xfrm>
              <a:off x="-4439851" y="915501"/>
              <a:ext cx="3266371" cy="1656249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A237451D-5F61-4A2F-94DF-890975B3B8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0982" r="3099"/>
            <a:stretch/>
          </p:blipFill>
          <p:spPr>
            <a:xfrm>
              <a:off x="-5020496" y="-1338386"/>
              <a:ext cx="4513325" cy="225278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Paso a Paso</a:t>
            </a:r>
            <a:endParaRPr lang="en-US" sz="300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4EBEDB6-60DD-4CE6-80A5-B42734522391}"/>
              </a:ext>
            </a:extLst>
          </p:cNvPr>
          <p:cNvGrpSpPr/>
          <p:nvPr/>
        </p:nvGrpSpPr>
        <p:grpSpPr>
          <a:xfrm>
            <a:off x="146304" y="1097280"/>
            <a:ext cx="1863547" cy="3211373"/>
            <a:chOff x="274320" y="914400"/>
            <a:chExt cx="2103120" cy="3474720"/>
          </a:xfrm>
        </p:grpSpPr>
        <p:sp>
          <p:nvSpPr>
            <p:cNvPr id="4" name="Shape 2"/>
            <p:cNvSpPr/>
            <p:nvPr/>
          </p:nvSpPr>
          <p:spPr>
            <a:xfrm>
              <a:off x="274320" y="914400"/>
              <a:ext cx="2103120" cy="3474720"/>
            </a:xfrm>
            <a:prstGeom prst="rect">
              <a:avLst/>
            </a:prstGeom>
            <a:solidFill>
              <a:srgbClr val="1B2E3C"/>
            </a:solidFill>
            <a:ln/>
            <a:effectLst>
              <a:outerShdw blurRad="101600" dist="38100" dir="8100000" algn="bl" rotWithShape="0">
                <a:srgbClr val="000000">
                  <a:alpha val="25000"/>
                </a:srgbClr>
              </a:outerShdw>
            </a:effectLst>
          </p:spPr>
        </p:sp>
        <p:sp>
          <p:nvSpPr>
            <p:cNvPr id="5" name="Shape 3"/>
            <p:cNvSpPr/>
            <p:nvPr/>
          </p:nvSpPr>
          <p:spPr>
            <a:xfrm>
              <a:off x="274320" y="914400"/>
              <a:ext cx="2103120" cy="347472"/>
            </a:xfrm>
            <a:prstGeom prst="rect">
              <a:avLst/>
            </a:prstGeom>
            <a:solidFill>
              <a:srgbClr val="00B4D8"/>
            </a:solidFill>
            <a:ln/>
          </p:spPr>
        </p:sp>
      </p:grpSp>
      <p:sp>
        <p:nvSpPr>
          <p:cNvPr id="6" name="Text 4"/>
          <p:cNvSpPr/>
          <p:nvPr/>
        </p:nvSpPr>
        <p:spPr>
          <a:xfrm>
            <a:off x="146304" y="1097280"/>
            <a:ext cx="1863547" cy="32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" y="1508760"/>
            <a:ext cx="1701499" cy="2112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[ Insertar foto 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76016" y="3911505"/>
            <a:ext cx="1782523" cy="63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Conexión</a:t>
            </a:r>
            <a:r>
              <a:rPr lang="en-US" sz="1000" dirty="0">
                <a:solidFill>
                  <a:srgbClr val="FFFFFF"/>
                </a:solidFill>
              </a:rPr>
              <a:t> de led y buzzer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78024" y="1097280"/>
            <a:ext cx="1863547" cy="3211373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78024" y="1097280"/>
            <a:ext cx="1863547" cy="321137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478024" y="1097280"/>
            <a:ext cx="1863547" cy="32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Paso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9464" y="1508760"/>
            <a:ext cx="1701499" cy="2112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[ Insertar foto 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23744" y="3840480"/>
            <a:ext cx="1782523" cy="63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Conexión</a:t>
            </a:r>
            <a:r>
              <a:rPr lang="en-US" sz="1000" dirty="0">
                <a:solidFill>
                  <a:srgbClr val="FFFFFF"/>
                </a:solidFill>
              </a:rPr>
              <a:t> GND y 5V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097280"/>
            <a:ext cx="1863547" cy="3211373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 dirty="0"/>
          </a:p>
        </p:txBody>
      </p:sp>
      <p:sp>
        <p:nvSpPr>
          <p:cNvPr id="15" name="Shape 13"/>
          <p:cNvSpPr/>
          <p:nvPr/>
        </p:nvSpPr>
        <p:spPr>
          <a:xfrm>
            <a:off x="4809744" y="1097280"/>
            <a:ext cx="1863547" cy="321137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4809744" y="1097280"/>
            <a:ext cx="1863547" cy="32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Paso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01184" y="1508760"/>
            <a:ext cx="1701499" cy="2112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[ Insertar foto 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55464" y="3840480"/>
            <a:ext cx="1782523" cy="63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Conexión</a:t>
            </a:r>
            <a:r>
              <a:rPr lang="en-US" sz="1000" dirty="0">
                <a:solidFill>
                  <a:srgbClr val="FFFFFF"/>
                </a:solidFill>
              </a:rPr>
              <a:t> LED y BUZZER a pin digital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92266" y="1097280"/>
            <a:ext cx="2112745" cy="3211373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92266" y="1097280"/>
            <a:ext cx="2112745" cy="321137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9"/>
          <p:cNvSpPr/>
          <p:nvPr/>
        </p:nvSpPr>
        <p:spPr>
          <a:xfrm>
            <a:off x="6892266" y="1097280"/>
            <a:ext cx="2112745" cy="321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Paso 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32904" y="1508760"/>
            <a:ext cx="1701499" cy="21127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</a:rPr>
              <a:t>[ Insertar foto ]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57376" y="3754757"/>
            <a:ext cx="1782523" cy="63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FFFFFF"/>
                </a:solidFill>
              </a:rPr>
              <a:t>Conexión</a:t>
            </a:r>
            <a:r>
              <a:rPr lang="en-US" sz="1000" dirty="0">
                <a:solidFill>
                  <a:srgbClr val="FFFFFF"/>
                </a:solidFill>
              </a:rPr>
              <a:t> de sensor PIR</a:t>
            </a:r>
            <a:endParaRPr lang="en-US" sz="10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98FA90F5-B58B-48F8-AC70-8451D9E8343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1640"/>
          <a:stretch/>
        </p:blipFill>
        <p:spPr>
          <a:xfrm rot="16200000">
            <a:off x="6892265" y="1421213"/>
            <a:ext cx="2112747" cy="211274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3DACEC2A-FCC6-404D-AB66-3E276A6FF9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0402" r="13350"/>
          <a:stretch/>
        </p:blipFill>
        <p:spPr>
          <a:xfrm>
            <a:off x="4809744" y="1438508"/>
            <a:ext cx="1863547" cy="2266483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759613ED-E5ED-4057-A99E-1D869F1BFF9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008" b="18471"/>
          <a:stretch/>
        </p:blipFill>
        <p:spPr>
          <a:xfrm rot="16200000">
            <a:off x="-138425" y="1709993"/>
            <a:ext cx="2446701" cy="1863549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7FEE51F9-9A62-4EAE-B317-11644775B2E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9196" t="10257" r="29209" b="26977"/>
          <a:stretch/>
        </p:blipFill>
        <p:spPr>
          <a:xfrm rot="16200000">
            <a:off x="2350001" y="1542387"/>
            <a:ext cx="2112745" cy="1870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en Arduino Cloud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29000" y="1097280"/>
            <a:ext cx="2286000" cy="2286000"/>
          </a:xfrm>
          <a:prstGeom prst="ellipse">
            <a:avLst/>
          </a:prstGeom>
          <a:solidFill>
            <a:srgbClr val="009B77"/>
          </a:solidFill>
          <a:ln/>
        </p:spPr>
      </p:sp>
      <p:sp>
        <p:nvSpPr>
          <p:cNvPr id="5" name="Text 3"/>
          <p:cNvSpPr/>
          <p:nvPr/>
        </p:nvSpPr>
        <p:spPr>
          <a:xfrm>
            <a:off x="342900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611880"/>
            <a:ext cx="7315200" cy="77724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361188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611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Accede al sketch en Arduino Cloud:</a:t>
            </a:r>
            <a:endParaRPr lang="en-US" sz="1200" dirty="0"/>
          </a:p>
        </p:txBody>
      </p:sp>
      <p:sp>
        <p:nvSpPr>
          <p:cNvPr id="9" name="Text 7">
            <a:hlinkClick r:id="rId3"/>
          </p:cNvPr>
          <p:cNvSpPr/>
          <p:nvPr/>
        </p:nvSpPr>
        <p:spPr>
          <a:xfrm>
            <a:off x="1097280" y="3931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hlinkClick r:id="rId3"/>
              </a:rPr>
              <a:t>https://app.arduino.cc/sketches/d1249fda-9edf-4e2c-8b70-77fdb3342c8f?view-mode=preview</a:t>
            </a:r>
            <a:r>
              <a:rPr lang="en-US" sz="1400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del Proceso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005840"/>
            <a:ext cx="6400800" cy="356616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371600" y="1005840"/>
            <a:ext cx="640080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0058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VIDEO DEL PASO A PASO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886200" y="1965960"/>
            <a:ext cx="1371600" cy="1371600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3886200" y="19659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D1B2A"/>
                </a:solidFill>
              </a:rPr>
              <a:t>▶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371600" y="347472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hlinkClick r:id="rId3"/>
              </a:rPr>
              <a:t>https://youtu.be/J0VNWo1T6yE</a:t>
            </a: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274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389888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[1]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74066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Ivan</a:t>
            </a:r>
            <a:r>
              <a:rPr lang="es-MX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Espinoza., “Circuito sensor de movimiento con PIR, con pocos componentes | Electrónica básica,” </a:t>
            </a:r>
            <a:r>
              <a:rPr lang="es-MX" sz="1050" b="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YouTube</a:t>
            </a:r>
            <a:r>
              <a:rPr lang="es-MX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 Nov. 12, 2024. [Online]. </a:t>
            </a:r>
            <a:r>
              <a:rPr lang="es-MX" sz="105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Available</a:t>
            </a:r>
            <a:r>
              <a:rPr lang="es-MX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: https://www.youtube.com/watch?v=ue9bcmZRn3Q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6888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487168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[2]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487168"/>
            <a:ext cx="74066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Mr</a:t>
            </a:r>
            <a:r>
              <a:rPr lang="en-US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US" sz="105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ProjectsoPedia</a:t>
            </a:r>
            <a:r>
              <a:rPr lang="en-US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“Arduino </a:t>
            </a:r>
            <a:r>
              <a:rPr lang="en-US" sz="105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pir</a:t>
            </a:r>
            <a:r>
              <a:rPr lang="en-US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sensor led and buzzer code | </a:t>
            </a:r>
            <a:r>
              <a:rPr lang="en-US" sz="105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pir</a:t>
            </a:r>
            <a:r>
              <a:rPr lang="en-US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motion sensor projects,” </a:t>
            </a:r>
            <a:r>
              <a:rPr lang="en-US" sz="1050" b="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YouTube</a:t>
            </a:r>
            <a:r>
              <a:rPr lang="en-US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 Jan. 08, 2021. [Online]. Available: https://www.youtube.com/watch?v=odvXvw9lc3o</a:t>
            </a:r>
            <a:endParaRPr lang="en-US" sz="1050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B2E3C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" cy="9144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584448"/>
            <a:ext cx="4572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[3]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584448"/>
            <a:ext cx="74066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MX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L. Llamas, “Detector de movimiento con Arduino y sensor PIR,” </a:t>
            </a:r>
            <a:r>
              <a:rPr lang="es-MX" sz="1050" b="0" i="1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Luis Llamas</a:t>
            </a:r>
            <a:r>
              <a:rPr lang="es-MX" sz="105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, Jul. 24, 2015. https://www.luisllamas.es/detector-de-movimiento-con-arduino-y-sensor-pir/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355</Words>
  <Application>Microsoft Office PowerPoint</Application>
  <PresentationFormat>Presentación en pantalla (16:9)</PresentationFormat>
  <Paragraphs>51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Guardian PIR</dc:title>
  <dc:subject>PptxGenJS Presentation</dc:subject>
  <dc:creator>PptxGenJS</dc:creator>
  <cp:lastModifiedBy>simon.vt4807@outlook.com</cp:lastModifiedBy>
  <cp:revision>5</cp:revision>
  <dcterms:created xsi:type="dcterms:W3CDTF">2026-05-19T05:26:37Z</dcterms:created>
  <dcterms:modified xsi:type="dcterms:W3CDTF">2026-05-19T17:58:25Z</dcterms:modified>
</cp:coreProperties>
</file>